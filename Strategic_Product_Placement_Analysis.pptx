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Promotion</c:v>
                </c:pt>
              </c:strCache>
            </c:strRef>
          </c:tx>
          <c:spPr>
            <a:solidFill>
              <a:srgbClr val="5A78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3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Food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1869</c:v>
                </c:pt>
                <c:pt idx="1">
                  <c:v>1726</c:v>
                </c:pt>
                <c:pt idx="2">
                  <c:v>1677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Promotion On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3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Food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1781</c:v>
                </c:pt>
                <c:pt idx="1">
                  <c:v>1773</c:v>
                </c:pt>
                <c:pt idx="2">
                  <c:v>1782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3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30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787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7876"/>
                    </a:solidFill>
                    <a:latin typeface="Arial"/>
                  </a:rPr>
                  <a:t>Avg. Sales Volume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8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030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0302E"/>
                </a:solidFill>
                <a:latin typeface="Arial"/>
              </a:rPr>
              <a:t>Average Sales Volume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Sales Volume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3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Food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1830.1</c:v>
                </c:pt>
                <c:pt idx="1">
                  <c:v>1748.6</c:v>
                </c:pt>
                <c:pt idx="2">
                  <c:v>1727.7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3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30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8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30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0302E"/>
                </a:solidFill>
                <a:latin typeface="Arial"/>
              </a:rPr>
              <a:t>Average Price by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Price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30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Clothing</c:v>
                  </c:pt>
                  <c:pt idx="1">
                    <c:v>Electronics</c:v>
                  </c:pt>
                  <c:pt idx="2">
                    <c:v>Food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27.75</c:v>
                </c:pt>
                <c:pt idx="1">
                  <c:v>27.85</c:v>
                </c:pt>
                <c:pt idx="2">
                  <c:v>28.47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30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30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78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Volume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B7D8D3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College Students</c:v>
                </c:pt>
                <c:pt idx="1">
                  <c:v>Seniors</c:v>
                </c:pt>
                <c:pt idx="2">
                  <c:v>Families</c:v>
                </c:pt>
                <c:pt idx="3">
                  <c:v>Young Adults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450063</c:v>
                </c:pt>
                <c:pt idx="1">
                  <c:v>444089</c:v>
                </c:pt>
                <c:pt idx="2">
                  <c:v>443276</c:v>
                </c:pt>
                <c:pt idx="3">
                  <c:v>431883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030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2A2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7393C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· TABLEAU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Product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product position, promotion, and consumer demographics drive sales performance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201168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with Tableau  ·  Sales, Placement &amp; Demographic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42A2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3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4114800"/>
            <a:ext cx="457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5029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0" y="1517904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1517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14630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wants to understand the impact of product positioning on sales and consumer behavior.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2843784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8437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278892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collected data on sales figures, product placement, and consumer demographics across three categories: Clothing, Electronics, and Food.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4169664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4169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411480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to know which positioning strategies are most effective at driving sales — and how to tailor marketing efforts to different consumer segments.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562356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turn the dashboard's findings into concrete, revenue-driving merchandising recommendations.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Product Placement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set out to answer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Impact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Front-of-Store, Aisle, and End-cap placement affect average sales volume by category.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 Effect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7889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seasonal promotions move price and sales volume differently across categories.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66760" y="2423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Benchmarking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7889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internal pricing against competitor pricing by product category.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Drivers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consumer segments contribute most to total sales volume.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206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 Traffic Link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51663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how foot-traffic levels correlate with sales volume across store positions.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977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E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B34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66760" y="4206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6676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Output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66760" y="51663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concrete recommendations for merchandising and marketing.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Product Placement Analysis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captured across sales, placement, and shopper attributes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600200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/ Electronics / Food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6712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16712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 Store / Aisle / End-cap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1106424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340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Promotion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734056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0098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Competitor Price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3300984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benchmarked to nearest competitor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1106424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6791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Sales Volume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3867912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units sold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0642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43484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Traffic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4434840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001768"/>
            <a:ext cx="11064240" cy="566928"/>
          </a:xfrm>
          <a:prstGeom prst="rect">
            <a:avLst/>
          </a:prstGeom>
          <a:solidFill>
            <a:srgbClr val="F4FAF9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0176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Demographic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500176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/ College Students / Families / Seniors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75157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Tableau Desktop / Public  ·  Visuals: bar charts, pie/donut charts, packed-bubble charts, cross-tab heat tiles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Product Placement Analysis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1 — Promotions Don't Affect Every Category Equally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volume, promotion Off vs 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4FAF9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1,869 → 1,781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55280" y="2286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drops ~5% when promoted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772400" y="297180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4FAF9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3383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1,726 → 1,773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703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gains ~3% when promoted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772400" y="4389120"/>
            <a:ext cx="3840480" cy="1234440"/>
          </a:xfrm>
          <a:prstGeom prst="roundRect">
            <a:avLst>
              <a:gd name="adj" fmla="val 4444"/>
            </a:avLst>
          </a:prstGeom>
          <a:solidFill>
            <a:srgbClr val="F4FAF9"/>
          </a:solidFill>
          <a:ln/>
        </p:spPr>
      </p:sp>
      <p:sp>
        <p:nvSpPr>
          <p:cNvPr id="14" name="Text 11"/>
          <p:cNvSpPr/>
          <p:nvPr/>
        </p:nvSpPr>
        <p:spPr>
          <a:xfrm>
            <a:off x="7955280" y="4480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55280" y="4800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1,677 → 1,782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955280" y="5120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gains ~6% when promoted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Product Placement Analysis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2 — Store Position Matters Most for Clothing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volume by product category and shelf position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64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167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 Store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1,923.7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34640" y="1600200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2971800" y="1764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71800" y="2167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718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1,832.8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20640" y="1600200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1764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57800" y="2167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1,780.9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06640" y="1600200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543800" y="1764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43800" y="2167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End-cap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1,790.3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92640" y="1600200"/>
            <a:ext cx="2103120" cy="1920240"/>
          </a:xfrm>
          <a:prstGeom prst="roundRect">
            <a:avLst>
              <a:gd name="adj" fmla="val 2857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1764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29800" y="21671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2980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1,728.2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11064240" cy="2331720"/>
          </a:xfrm>
          <a:prstGeom prst="roundRect">
            <a:avLst>
              <a:gd name="adj" fmla="val 2353"/>
            </a:avLst>
          </a:prstGeom>
          <a:solidFill>
            <a:srgbClr val="F4FAF9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tiles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443484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at Front of Store (1,923.7) outsells Clothing in the Aisle (1,832.8) by ~5%.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Food perform best in Aisle / End-cap spots, closer together in volume than Clothing's two positions.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prime front-of-store real estate delivers the biggest lift specifically for Clothing.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Product Placement Analysis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3 — Clothing Leads Overall Volume, Food Commands the Highest Price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0350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675120" y="1371600"/>
          <a:ext cx="49834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434840"/>
            <a:ext cx="11109960" cy="1691640"/>
          </a:xfrm>
          <a:prstGeom prst="roundRect">
            <a:avLst>
              <a:gd name="adj" fmla="val 3243"/>
            </a:avLst>
          </a:prstGeom>
          <a:solidFill>
            <a:srgbClr val="F4FAF9"/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4617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sells the most units but isn't the most expensive category — its volume advantage comes from placement, not price. 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price tracks closely with competitor price across all categories (see next section), meaning volume differences are driven by placement and promotion, not discounting.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Product Placement Analysis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4 — College Students Lead Total Sales Volume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17,69,311 total units sold, by consumer demographic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56692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783080"/>
            <a:ext cx="2286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7040880" y="16916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418320" y="1691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4,50,063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2103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 overall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75120" y="2743200"/>
            <a:ext cx="228600" cy="228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2651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418320" y="26517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4,44,089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4088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consistent volume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675120" y="3703320"/>
            <a:ext cx="228600" cy="228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36118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418320" y="3611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4,43,276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40880" y="4023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behind Seniors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675120" y="4663440"/>
            <a:ext cx="228600" cy="228600"/>
          </a:xfrm>
          <a:prstGeom prst="rect">
            <a:avLst/>
          </a:prstGeom>
          <a:solidFill>
            <a:srgbClr val="B7D8D3"/>
          </a:solidFill>
          <a:ln/>
        </p:spPr>
      </p:sp>
      <p:sp>
        <p:nvSpPr>
          <p:cNvPr id="18" name="Text 15"/>
          <p:cNvSpPr/>
          <p:nvPr/>
        </p:nvSpPr>
        <p:spPr>
          <a:xfrm>
            <a:off x="7040880" y="45720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418320" y="45720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4,31,883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40880" y="4983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of the four segments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Product Placement Analysis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5 — Foot Traffic Reinforces Position Effects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rises with foot-traffic level, most visibly at End-cap and Aisle spots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3246120"/>
            <a:ext cx="1371600" cy="1371600"/>
          </a:xfrm>
          <a:prstGeom prst="ellipse">
            <a:avLst/>
          </a:prstGeom>
          <a:solidFill>
            <a:srgbClr val="B7D8D3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246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2971800"/>
            <a:ext cx="1920240" cy="1920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2971800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697480"/>
            <a:ext cx="2468880" cy="2468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69748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≈ relative average sales volume observed at that foot-traffic level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1600200"/>
            <a:ext cx="3749040" cy="4206240"/>
          </a:xfrm>
          <a:prstGeom prst="roundRect">
            <a:avLst>
              <a:gd name="adj" fmla="val 1463"/>
            </a:avLst>
          </a:prstGeom>
          <a:solidFill>
            <a:srgbClr val="F4FAF9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92440" y="2240280"/>
            <a:ext cx="3291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End-cap and Aisle positions show the widest spread between Low- and High-traffic outcomes.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High-traffic zones consistently carry the largest sales-volume bubbles across every position.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0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exposure is a strong secondary driver of volume — independent of category.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Product Placement Analysis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insight into merchandising action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07393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92224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2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67335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 Front-of-Store for Clothing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02082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category proven to gain the most from prime positioning (~5% lift).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07393C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6148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61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64261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Redirect promotions to Electronics &amp; Food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17320" y="299008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reliably boosts their volume; reconsider blanket Clothing promotions.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07393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307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30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611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College Students &amp; Seniors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95935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segments generating the highest total sales volume.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0799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07393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70001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58114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high-traffic End-cap &amp; Aisle spots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492861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categories under-indexed on volume, to capture impulse purchases.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7725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07393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6692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669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2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55040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price parity, don't discount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8978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already tracks competitors — placement and promotion are the real levers.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Product Placement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739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Product Placement Analysis  ·  Built with Tableau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2026-07-13T15:12:36Z</dcterms:created>
  <dcterms:modified xsi:type="dcterms:W3CDTF">2026-07-13T15:12:36Z</dcterms:modified>
</cp:coreProperties>
</file>